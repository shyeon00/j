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7848e3d5d4278" /><Relationship Type="http://schemas.openxmlformats.org/officeDocument/2006/relationships/extended-properties" Target="/docProps/app.xml" Id="Rdf5d266fb28f40e7" /><Relationship Type="http://schemas.openxmlformats.org/officeDocument/2006/relationships/officeDocument" Target="/ppt/presentation.xml" Id="Re932471a96ea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3a6dcc48d14085"/>
  </p:sldMasterIdLst>
  <p:notesMasterIdLst>
    <p:notesMasterId xmlns:r="http://schemas.openxmlformats.org/officeDocument/2006/relationships" r:id="R7b96c0542a8d4c7c"/>
  </p:notesMasterIdLst>
  <p:sldIdLst>
    <p:sldId xmlns:r="http://schemas.openxmlformats.org/officeDocument/2006/relationships" id="256" r:id="R6b26350a3b0c459d"/>
    <p:sldId xmlns:r="http://schemas.openxmlformats.org/officeDocument/2006/relationships" id="257" r:id="Ra2dff25f98a14857"/>
    <p:sldId xmlns:r="http://schemas.openxmlformats.org/officeDocument/2006/relationships" id="258" r:id="Rdd150c43e89a468f"/>
    <p:sldId xmlns:r="http://schemas.openxmlformats.org/officeDocument/2006/relationships" id="259" r:id="R21f48e6e8e0a49e6"/>
    <p:sldId xmlns:r="http://schemas.openxmlformats.org/officeDocument/2006/relationships" id="260" r:id="R07f5c384785c48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76576ed3f4ede" /><Relationship Type="http://schemas.openxmlformats.org/officeDocument/2006/relationships/slideMaster" Target="/ppt/slideMasters/slideMaster1.xml" Id="Rfc3a6dcc48d14085" /><Relationship Type="http://schemas.openxmlformats.org/officeDocument/2006/relationships/notesMaster" Target="/ppt/notesMasters/notesMaster1.xml" Id="R7b96c0542a8d4c7c" /><Relationship Type="http://schemas.openxmlformats.org/officeDocument/2006/relationships/presProps" Target="/ppt/presProps.xml" Id="R20fd061e93f14e5d" /><Relationship Type="http://schemas.openxmlformats.org/officeDocument/2006/relationships/tableStyles" Target="/ppt/tableStyles.xml" Id="R7ab77945703a44ae" /><Relationship Type="http://schemas.openxmlformats.org/officeDocument/2006/relationships/slide" Target="/ppt/slides/slide1.xml" Id="R6b26350a3b0c459d" /><Relationship Type="http://schemas.openxmlformats.org/officeDocument/2006/relationships/slide" Target="/ppt/slides/slide2.xml" Id="Ra2dff25f98a14857" /><Relationship Type="http://schemas.openxmlformats.org/officeDocument/2006/relationships/slide" Target="/ppt/slides/slide3.xml" Id="Rdd150c43e89a468f" /><Relationship Type="http://schemas.openxmlformats.org/officeDocument/2006/relationships/slide" Target="/ppt/slides/slide4.xml" Id="R21f48e6e8e0a49e6" /><Relationship Type="http://schemas.openxmlformats.org/officeDocument/2006/relationships/slide" Target="/ppt/slides/slide5.xml" Id="R07f5c384785c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ed434de62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bfbcd84e6c4bde" /><Relationship Type="http://schemas.openxmlformats.org/officeDocument/2006/relationships/notesMaster" Target="/ppt/notesMasters/notesMaster1.xml" Id="R6b661684bbac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5e787c2c546b8" /><Relationship Type="http://schemas.openxmlformats.org/officeDocument/2006/relationships/notesMaster" Target="/ppt/notesMasters/notesMaster1.xml" Id="R40a0463bd11b44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0c0ed2a054b93" /><Relationship Type="http://schemas.openxmlformats.org/officeDocument/2006/relationships/notesMaster" Target="/ppt/notesMasters/notesMaster1.xml" Id="R4611b4f55eca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63bf1ab25f45b8" /><Relationship Type="http://schemas.openxmlformats.org/officeDocument/2006/relationships/notesMaster" Target="/ppt/notesMasters/notesMaster1.xml" Id="R10b7789e9ee0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270f3113a4379" /><Relationship Type="http://schemas.openxmlformats.org/officeDocument/2006/relationships/notesMaster" Target="/ppt/notesMasters/notesMaster1.xml" Id="Reef1a007f4fc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불면이나 수면 불균형으로 불편함을 느끼는 일반인이 자신의 수면을 돌아보고 작은 실천을 이어가도록 돕는 제품을 소개합니다. 표지 이미지는 AI로 생성한 콘셉트 이미지이며 실제 사용자나 제품 사용 현장을 촬영한 사진이 아닙니다.</a:t>
            </a:r>
          </a:p>
          <a:p xmlns:a="http://schemas.openxmlformats.org/drawingml/2006/main">
            <a:r>
              <a:t>근거: 프로젝트 docs/plan.md, index.html, app.js 및 사용자 대화의 개발 범위. 실제 호흡 분석, 치료 효과, 수면 점수 정확도는 검증하지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요구는 제품 기획에서 출발한 가설입니다. 사용자 조사, 시장 규모, 효과 측정 결과는 아직 제시하지 않습니다.</a:t>
            </a:r>
          </a:p>
          <a:p xmlns:a="http://schemas.openxmlformats.org/drawingml/2006/main">
            <a:r>
              <a:t>근거: 프로젝트 docs/plan.md, index.html, app.js 및 사용자 대화의 개발 범위. 실제 호흡 분석, 치료 효과, 수면 점수 정확도는 검증하지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구현은 수면 시작, 경과 시간, 종료, 리포트, 홈 복귀를 지원합니다. 화면은 마이크를 사용하지 않습니다. 시작부터 종료까지의 시간은 실제 잠든 시간이 아닌 기록 시간입니다.</a:t>
            </a:r>
          </a:p>
          <a:p xmlns:a="http://schemas.openxmlformats.org/drawingml/2006/main">
            <a:r>
              <a:t>근거: 프로젝트 docs/plan.md, index.html, app.js 및 사용자 대화의 개발 범위. 실제 호흡 분석, 치료 효과, 수면 점수 정확도는 검증하지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동작: 실제 시각과 경과 시간 기록, 중복 시작 방지, 종료 후 결과 확인, 실천 추가/완료/해제/삭제, 빈 목록 안내. 점수 78과 호흡 패턴은 고정 데모입니다. 실제 분석 결과나 임상 근거로 제시하지 않습니다.</a:t>
            </a:r>
          </a:p>
          <a:p xmlns:a="http://schemas.openxmlformats.org/drawingml/2006/main">
            <a:r>
              <a:t>근거: 프로젝트 docs/plan.md, index.html, app.js 및 사용자 대화의 개발 범위. 실제 호흡 분석, 치료 효과, 수면 점수 정확도는 검증하지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계획은 확정된 출시 일정이 아닙니다. 기획의 첫 모바일 플랫폼은 Android입니다. 저장, 실제 마이크 녹음과 호흡 분석, 장기간 타임라인은 후속 개발 범위입니다. 불면증 치료 효과를 검증하거나 의료 진단을 제공하는 제품으로 설명하지 않습니다.</a:t>
            </a:r>
          </a:p>
          <a:p xmlns:a="http://schemas.openxmlformats.org/drawingml/2006/main">
            <a:r>
              <a:t>근거: 프로젝트 docs/plan.md, index.html, app.js 및 사용자 대화의 개발 범위. 실제 호흡 분석, 치료 효과, 수면 점수 정확도는 검증하지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df672f092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4c1b3e09e4bb3" /><Relationship Type="http://schemas.openxmlformats.org/officeDocument/2006/relationships/slideLayout" Target="/ppt/slideLayouts/slideLayout1.xml" Id="R7ddfad9898b041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fad9898b041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d398124b49d4" /><Relationship Type="http://schemas.openxmlformats.org/officeDocument/2006/relationships/image" Target="/ppt/media/image.png" Id="Rb7b542f5543346c9" /><Relationship Type="http://schemas.openxmlformats.org/officeDocument/2006/relationships/notesSlide" Target="/ppt/notesSlides/notesSlide1.xml" Id="R79c67d148896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f07260bca4680" /><Relationship Type="http://schemas.openxmlformats.org/officeDocument/2006/relationships/notesSlide" Target="/ppt/notesSlides/notesSlide2.xml" Id="R85340fcf41d5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d6aae1346499d" /><Relationship Type="http://schemas.openxmlformats.org/officeDocument/2006/relationships/notesSlide" Target="/ppt/notesSlides/notesSlide3.xml" Id="Rf6d8be94a7264e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5d18b4e034144" /><Relationship Type="http://schemas.openxmlformats.org/officeDocument/2006/relationships/notesSlide" Target="/ppt/notesSlides/notesSlide4.xml" Id="R32625c2ad1ae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870ec16c446ac" /><Relationship Type="http://schemas.openxmlformats.org/officeDocument/2006/relationships/notesSlide" Target="/ppt/notesSlides/notesSlide5.xml" Id="Rc40239fce8b5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E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542f5543346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수면 관리 서비스 소개">
            <a:extLst xmlns:a="http://schemas.openxmlformats.org/drawingml/2006/main">
              <a:ext uri="{FF2B5EF4-FFF2-40B4-BE49-F238E27FC236}">
                <a16:creationId xmlns:a16="http://schemas.microsoft.com/office/drawing/2014/main" id="{421BC614-997C-4F9B-8B28-80132070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5D4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5D4BA"/>
                </a:solidFill>
                <a:latin typeface="Apple SD Gothic Neo"/>
                <a:ea typeface="Apple SD Gothic Neo"/>
                <a:cs typeface="Apple SD Gothic Neo"/>
              </a:rPr>
              <a:t>수면 관리 서비스 소개</a:t>
            </a:r>
          </a:p>
        </p:txBody>
      </p:sp>
      <p:sp>
        <p:nvSpPr>
          <p:cNvPr id="3" name="잠드림">
            <a:extLst xmlns:a="http://schemas.openxmlformats.org/drawingml/2006/main">
              <a:ext uri="{FF2B5EF4-FFF2-40B4-BE49-F238E27FC236}">
                <a16:creationId xmlns:a16="http://schemas.microsoft.com/office/drawing/2014/main" id="{39EF120B-D0E9-4A27-B53E-33042EE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286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5F7F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0" b="1">
                <a:solidFill>
                  <a:srgbClr val="F5F7F2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4" name="하루의 끝을 기록하고&#10;다음 밤의 실천을 준비하는 서비스">
            <a:extLst xmlns:a="http://schemas.openxmlformats.org/drawingml/2006/main">
              <a:ext uri="{FF2B5EF4-FFF2-40B4-BE49-F238E27FC236}">
                <a16:creationId xmlns:a16="http://schemas.microsoft.com/office/drawing/2014/main" id="{45C76129-56C6-4EE0-B5B3-9D249C6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3E8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3E8DE"/>
                </a:solidFill>
                <a:latin typeface="Apple SD Gothic Neo"/>
                <a:ea typeface="Apple SD Gothic Neo"/>
                <a:cs typeface="Apple SD Gothic Neo"/>
              </a:rPr>
              <a:t>하루의 끝을 기록하고</a:t>
            </a:r>
          </a:p>
          <a:p xmlns:a="http://schemas.openxmlformats.org/drawingml/2006/main">
            <a:pPr>
              <a:defRPr sz="2550" b="0">
                <a:solidFill>
                  <a:srgbClr val="E3E8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3E8DE"/>
                </a:solidFill>
                <a:latin typeface="Apple SD Gothic Neo"/>
                <a:ea typeface="Apple SD Gothic Neo"/>
                <a:cs typeface="Apple SD Gothic Neo"/>
              </a:rPr>
              <a:t>다음 밤의 실천을 준비하는 서비스</a:t>
            </a:r>
          </a:p>
        </p:txBody>
      </p:sp>
      <p:sp>
        <p:nvSpPr>
          <p:cNvPr id="5" name="모바일 화면으로 체험하는 첫 버전">
            <a:extLst xmlns:a="http://schemas.openxmlformats.org/drawingml/2006/main">
              <a:ext uri="{FF2B5EF4-FFF2-40B4-BE49-F238E27FC236}">
                <a16:creationId xmlns:a16="http://schemas.microsoft.com/office/drawing/2014/main" id="{C3484B27-35AD-4217-8BD6-874D7628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2BD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2BDB0"/>
                </a:solidFill>
                <a:latin typeface="Apple SD Gothic Neo"/>
                <a:ea typeface="Apple SD Gothic Neo"/>
                <a:cs typeface="Apple SD Gothic Neo"/>
              </a:rPr>
              <a:t>모바일 화면으로 체험하는 첫 버전</a:t>
            </a:r>
          </a:p>
        </p:txBody>
      </p:sp>
      <p:sp>
        <p:nvSpPr>
          <p:cNvPr id="6" name="잠드림">
            <a:extLst xmlns:a="http://schemas.openxmlformats.org/drawingml/2006/main">
              <a:ext uri="{FF2B5EF4-FFF2-40B4-BE49-F238E27FC236}">
                <a16:creationId xmlns:a16="http://schemas.microsoft.com/office/drawing/2014/main" id="{2BA187F4-B358-44D0-A40A-B8819F27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7" name="1 / 5">
            <a:extLst xmlns:a="http://schemas.openxmlformats.org/drawingml/2006/main">
              <a:ext uri="{FF2B5EF4-FFF2-40B4-BE49-F238E27FC236}">
                <a16:creationId xmlns:a16="http://schemas.microsoft.com/office/drawing/2014/main" id="{0E342A29-ED64-4346-B20F-E01FA72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442198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사용자와 해결하려는 문제">
            <a:extLst xmlns:a="http://schemas.openxmlformats.org/drawingml/2006/main">
              <a:ext uri="{FF2B5EF4-FFF2-40B4-BE49-F238E27FC236}">
                <a16:creationId xmlns:a16="http://schemas.microsoft.com/office/drawing/2014/main" id="{DED3FD3B-9B24-4793-BA1E-467F346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사용자와 해결하려는 문제</a:t>
            </a:r>
          </a:p>
        </p:txBody>
      </p:sp>
      <p:sp>
        <p:nvSpPr>
          <p:cNvPr id="2" name="불면이나 불규칙한 수면으로&#10;생활의 불편함을 느끼는 일반">
            <a:extLst xmlns:a="http://schemas.openxmlformats.org/drawingml/2006/main">
              <a:ext uri="{FF2B5EF4-FFF2-40B4-BE49-F238E27FC236}">
                <a16:creationId xmlns:a16="http://schemas.microsoft.com/office/drawing/2014/main" id="{5F7B0627-3245-46C1-9EC9-8D93025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334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불면이나 불규칙한 수면으로</a:t>
            </a:r>
          </a:p>
          <a:p xmlns:a="http://schemas.openxmlformats.org/drawingml/2006/main">
            <a:pPr>
              <a:defRPr sz="27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생활의 불편함을 느끼는 일반인</a:t>
            </a:r>
          </a:p>
        </p:txBody>
      </p:sp>
      <p:sp>
        <p:nvSpPr>
          <p:cNvPr id="3" name="자신의 수면을 돌아보고&#10;오늘 실천할 행동을 찾고 싶습니">
            <a:extLst xmlns:a="http://schemas.openxmlformats.org/drawingml/2006/main">
              <a:ext uri="{FF2B5EF4-FFF2-40B4-BE49-F238E27FC236}">
                <a16:creationId xmlns:a16="http://schemas.microsoft.com/office/drawing/2014/main" id="{D2052004-3425-4B5B-8D6F-0476E3CC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자신의 수면을 돌아보고</a:t>
            </a:r>
          </a:p>
          <a:p xmlns:a="http://schemas.openxmlformats.org/drawingml/2006/main">
            <a:pPr>
              <a:defRPr sz="20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오늘 실천할 행동을 찾고 싶습니다.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40C2549-D285-484E-BF0A-8C948BC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지난밤을 돌아보기 어렵다">
            <a:extLst xmlns:a="http://schemas.openxmlformats.org/drawingml/2006/main">
              <a:ext uri="{FF2B5EF4-FFF2-40B4-BE49-F238E27FC236}">
                <a16:creationId xmlns:a16="http://schemas.microsoft.com/office/drawing/2014/main" id="{DE8BAACF-C486-4BFB-BE8D-1F39850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384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지난밤을 돌아보기 어렵다</a:t>
            </a:r>
          </a:p>
        </p:txBody>
      </p:sp>
      <p:sp>
        <p:nvSpPr>
          <p:cNvPr id="6" name="잠든 느낌과 기상 후 상태를&#10;한 흐름으로 살펴볼 정보가">
            <a:extLst xmlns:a="http://schemas.openxmlformats.org/drawingml/2006/main">
              <a:ext uri="{FF2B5EF4-FFF2-40B4-BE49-F238E27FC236}">
                <a16:creationId xmlns:a16="http://schemas.microsoft.com/office/drawing/2014/main" id="{E9724FF8-9CD2-4486-BFD2-85B7C41F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잠든 느낌과 기상 후 상태를</a:t>
            </a:r>
          </a:p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한 흐름으로 살펴볼 정보가 필요합니다.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09863A6-0BD2-42A5-9681-E928415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7197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다음 행동을 정하기 어렵다">
            <a:extLst xmlns:a="http://schemas.openxmlformats.org/drawingml/2006/main">
              <a:ext uri="{FF2B5EF4-FFF2-40B4-BE49-F238E27FC236}">
                <a16:creationId xmlns:a16="http://schemas.microsoft.com/office/drawing/2014/main" id="{D99D2574-FE6E-419A-92A0-017859ED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244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다음 행동을 정하기 어렵다</a:t>
            </a:r>
          </a:p>
        </p:txBody>
      </p:sp>
      <p:sp>
        <p:nvSpPr>
          <p:cNvPr id="9" name="작은 목표를 정하고 실천 여부를 확인합니다.">
            <a:extLst xmlns:a="http://schemas.openxmlformats.org/drawingml/2006/main">
              <a:ext uri="{FF2B5EF4-FFF2-40B4-BE49-F238E27FC236}">
                <a16:creationId xmlns:a16="http://schemas.microsoft.com/office/drawing/2014/main" id="{75EEB4F6-8423-4DB6-9514-A05A02E5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340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작은 목표를 정하고 실천 여부를 확인합니다.</a:t>
            </a:r>
          </a:p>
        </p:txBody>
      </p:sp>
      <p:sp>
        <p:nvSpPr>
          <p:cNvPr id="10" name="잠드림">
            <a:extLst xmlns:a="http://schemas.openxmlformats.org/drawingml/2006/main">
              <a:ext uri="{FF2B5EF4-FFF2-40B4-BE49-F238E27FC236}">
                <a16:creationId xmlns:a16="http://schemas.microsoft.com/office/drawing/2014/main" id="{AFA78071-969E-4CE5-B706-D073F690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11" name="2 / 5">
            <a:extLst xmlns:a="http://schemas.openxmlformats.org/drawingml/2006/main">
              <a:ext uri="{FF2B5EF4-FFF2-40B4-BE49-F238E27FC236}">
                <a16:creationId xmlns:a16="http://schemas.microsoft.com/office/drawing/2014/main" id="{9F41E159-20D9-408E-B839-431FAF4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339492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C1E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밤부터 아침까지의 사용 흐름">
            <a:extLst xmlns:a="http://schemas.openxmlformats.org/drawingml/2006/main">
              <a:ext uri="{FF2B5EF4-FFF2-40B4-BE49-F238E27FC236}">
                <a16:creationId xmlns:a16="http://schemas.microsoft.com/office/drawing/2014/main" id="{C8172ED3-3B7D-4FFC-9789-B70E507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rPr>
              <a:t>밤부터 아침까지의 사용 흐름</a:t>
            </a:r>
          </a:p>
        </p:txBody>
      </p:sp>
      <p:sp>
        <p:nvSpPr>
          <p:cNvPr id="2" name="한 번의 시작과 종료로 기록을 돌아보고 실천을 이어갑니">
            <a:extLst xmlns:a="http://schemas.openxmlformats.org/drawingml/2006/main">
              <a:ext uri="{FF2B5EF4-FFF2-40B4-BE49-F238E27FC236}">
                <a16:creationId xmlns:a16="http://schemas.microsoft.com/office/drawing/2014/main" id="{0FDDA4D0-C952-497E-ADCC-8CD69C59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3A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A6B3A1"/>
                </a:solidFill>
                <a:latin typeface="Apple SD Gothic Neo"/>
                <a:ea typeface="Apple SD Gothic Neo"/>
                <a:cs typeface="Apple SD Gothic Neo"/>
              </a:rPr>
              <a:t>한 번의 시작과 종료로 기록을 돌아보고 실천을 이어갑니다.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AA31AAF-8E7C-4790-AA07-7844A151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23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수면 시작">
            <a:extLst xmlns:a="http://schemas.openxmlformats.org/drawingml/2006/main">
              <a:ext uri="{FF2B5EF4-FFF2-40B4-BE49-F238E27FC236}">
                <a16:creationId xmlns:a16="http://schemas.microsoft.com/office/drawing/2014/main" id="{41F2D8D4-7A03-4B1F-9F6B-B6834372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rPr>
              <a:t>수면 시작</a:t>
            </a:r>
          </a:p>
        </p:txBody>
      </p:sp>
      <p:sp>
        <p:nvSpPr>
          <p:cNvPr id="5" name="홈 하단의 수면 시작을 누르면&#10;기록 시간이 시작됩니다.">
            <a:extLst xmlns:a="http://schemas.openxmlformats.org/drawingml/2006/main">
              <a:ext uri="{FF2B5EF4-FFF2-40B4-BE49-F238E27FC236}">
                <a16:creationId xmlns:a16="http://schemas.microsoft.com/office/drawing/2014/main" id="{A6864E9F-254D-4DC7-953B-31368FD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533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홈 하단의 수면 시작을 누르면</a:t>
            </a:r>
          </a:p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기록 시간이 시작됩니다.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3D755D88-0011-4F24-ABEA-2FBDA74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223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편안한 수면 화면">
            <a:extLst xmlns:a="http://schemas.openxmlformats.org/drawingml/2006/main">
              <a:ext uri="{FF2B5EF4-FFF2-40B4-BE49-F238E27FC236}">
                <a16:creationId xmlns:a16="http://schemas.microsoft.com/office/drawing/2014/main" id="{C47FEA48-5D13-4EFE-B59E-9C937750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576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rPr>
              <a:t>편안한 수면 화면</a:t>
            </a:r>
          </a:p>
        </p:txBody>
      </p:sp>
      <p:sp>
        <p:nvSpPr>
          <p:cNvPr id="8" name="검은 회색 화면에서&#10;시작 시각과 경과 시간을 봅니다.">
            <a:extLst xmlns:a="http://schemas.openxmlformats.org/drawingml/2006/main">
              <a:ext uri="{FF2B5EF4-FFF2-40B4-BE49-F238E27FC236}">
                <a16:creationId xmlns:a16="http://schemas.microsoft.com/office/drawing/2014/main" id="{6FF16A00-A154-422F-85E9-93901DDF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2533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검은 회색 화면에서</a:t>
            </a:r>
          </a:p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시작 시각과 경과 시간을 봅니다.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09CCA11-5573-46AE-B1FE-479BF5E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223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종료 후 리포트">
            <a:extLst xmlns:a="http://schemas.openxmlformats.org/drawingml/2006/main">
              <a:ext uri="{FF2B5EF4-FFF2-40B4-BE49-F238E27FC236}">
                <a16:creationId xmlns:a16="http://schemas.microsoft.com/office/drawing/2014/main" id="{721AD546-A0DC-45D5-894C-B1555434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rPr>
              <a:t>종료 후 리포트</a:t>
            </a:r>
          </a:p>
        </p:txBody>
      </p:sp>
      <p:sp>
        <p:nvSpPr>
          <p:cNvPr id="11" name="종료하면 기록 시간과&#10;데모 분석 결과를 확인합니다.">
            <a:extLst xmlns:a="http://schemas.openxmlformats.org/drawingml/2006/main">
              <a:ext uri="{FF2B5EF4-FFF2-40B4-BE49-F238E27FC236}">
                <a16:creationId xmlns:a16="http://schemas.microsoft.com/office/drawing/2014/main" id="{63659B79-EE73-49E9-88E8-E1E0F2D9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2533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종료하면 기록 시간과</a:t>
            </a:r>
          </a:p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데모 분석 결과를 확인합니다.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0ADB7501-A94D-4168-94D7-F49FB52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223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A6BF9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다음 실천">
            <a:extLst xmlns:a="http://schemas.openxmlformats.org/drawingml/2006/main">
              <a:ext uri="{FF2B5EF4-FFF2-40B4-BE49-F238E27FC236}">
                <a16:creationId xmlns:a16="http://schemas.microsoft.com/office/drawing/2014/main" id="{40FD2B8E-10D7-4CD3-9188-B5BDA70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EBE4"/>
                </a:solidFill>
                <a:latin typeface="Apple SD Gothic Neo"/>
                <a:ea typeface="Apple SD Gothic Neo"/>
                <a:cs typeface="Apple SD Gothic Neo"/>
              </a:rPr>
              <a:t>다음 실천</a:t>
            </a:r>
          </a:p>
        </p:txBody>
      </p:sp>
      <p:sp>
        <p:nvSpPr>
          <p:cNvPr id="14" name="오늘의 느낌을 돌아보고&#10;실천 목록에 목표를 적습니다.">
            <a:extLst xmlns:a="http://schemas.openxmlformats.org/drawingml/2006/main">
              <a:ext uri="{FF2B5EF4-FFF2-40B4-BE49-F238E27FC236}">
                <a16:creationId xmlns:a16="http://schemas.microsoft.com/office/drawing/2014/main" id="{D430E14E-8B70-4F9F-9FFB-4922BC29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2533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오늘의 느낌을 돌아보고</a:t>
            </a:r>
          </a:p>
          <a:p xmlns:a="http://schemas.openxmlformats.org/drawingml/2006/main">
            <a:pPr>
              <a:def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5ACA5"/>
                </a:solidFill>
                <a:latin typeface="Apple SD Gothic Neo"/>
                <a:ea typeface="Apple SD Gothic Neo"/>
                <a:cs typeface="Apple SD Gothic Neo"/>
              </a:rPr>
              <a:t>실천 목록에 목표를 적습니다.</a:t>
            </a:r>
          </a:p>
        </p:txBody>
      </p:sp>
      <p:sp>
        <p:nvSpPr>
          <p:cNvPr id="15" name="잠드림">
            <a:extLst xmlns:a="http://schemas.openxmlformats.org/drawingml/2006/main">
              <a:ext uri="{FF2B5EF4-FFF2-40B4-BE49-F238E27FC236}">
                <a16:creationId xmlns:a16="http://schemas.microsoft.com/office/drawing/2014/main" id="{13481BA3-7C9F-49FD-B3E0-28D9EEB0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16" name="3 / 5">
            <a:extLst xmlns:a="http://schemas.openxmlformats.org/drawingml/2006/main">
              <a:ext uri="{FF2B5EF4-FFF2-40B4-BE49-F238E27FC236}">
                <a16:creationId xmlns:a16="http://schemas.microsoft.com/office/drawing/2014/main" id="{338355AF-3930-49F5-8BA4-13BD844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59B97"/>
                </a:solidFill>
                <a:latin typeface="Apple SD Gothic Neo"/>
                <a:ea typeface="Apple SD Gothic Neo"/>
                <a:cs typeface="Apple SD Gothic Neo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918717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F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지금 체험할 수 있는 기능">
            <a:extLst xmlns:a="http://schemas.openxmlformats.org/drawingml/2006/main">
              <a:ext uri="{FF2B5EF4-FFF2-40B4-BE49-F238E27FC236}">
                <a16:creationId xmlns:a16="http://schemas.microsoft.com/office/drawing/2014/main" id="{F9821840-B34D-4EB1-A73B-79D9F866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지금 체험할 수 있는 기능</a:t>
            </a:r>
          </a:p>
        </p:txBody>
      </p:sp>
      <p:sp>
        <p:nvSpPr>
          <p:cNvPr id="2" name="수면 기록">
            <a:extLst xmlns:a="http://schemas.openxmlformats.org/drawingml/2006/main">
              <a:ext uri="{FF2B5EF4-FFF2-40B4-BE49-F238E27FC236}">
                <a16:creationId xmlns:a16="http://schemas.microsoft.com/office/drawing/2014/main" id="{903A5E9B-77C2-4C6A-B460-CD81FD32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수면 기록</a:t>
            </a:r>
          </a:p>
        </p:txBody>
      </p:sp>
      <p:sp>
        <p:nvSpPr>
          <p:cNvPr id="3" name="시작부터 종료까지의 시간 확인">
            <a:extLst xmlns:a="http://schemas.openxmlformats.org/drawingml/2006/main">
              <a:ext uri="{FF2B5EF4-FFF2-40B4-BE49-F238E27FC236}">
                <a16:creationId xmlns:a16="http://schemas.microsoft.com/office/drawing/2014/main" id="{A386ADCC-537C-4A1A-B581-61B7A25A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905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시작부터 종료까지의 시간 확인</a:t>
            </a:r>
          </a:p>
        </p:txBody>
      </p:sp>
      <p:sp>
        <p:nvSpPr>
          <p:cNvPr id="4" name="종료 후 기록 시각과 경과 시간을 보고,&#10;홈에서 방금 ">
            <a:extLst xmlns:a="http://schemas.openxmlformats.org/drawingml/2006/main">
              <a:ext uri="{FF2B5EF4-FFF2-40B4-BE49-F238E27FC236}">
                <a16:creationId xmlns:a16="http://schemas.microsoft.com/office/drawing/2014/main" id="{1BABC276-ED6B-470B-A3BE-58D36D6E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9053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종료 후 기록 시각과 경과 시간을 보고,</a:t>
            </a:r>
          </a:p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홈에서 방금 기록한 결과를 다시 엽니다.</a:t>
            </a:r>
          </a:p>
        </p:txBody>
      </p:sp>
      <p:sp>
        <p:nvSpPr>
          <p:cNvPr id="5" name="수면 보드와 7일 그래프는 예시 데이터입니다.">
            <a:extLst xmlns:a="http://schemas.openxmlformats.org/drawingml/2006/main">
              <a:ext uri="{FF2B5EF4-FFF2-40B4-BE49-F238E27FC236}">
                <a16:creationId xmlns:a16="http://schemas.microsoft.com/office/drawing/2014/main" id="{29F39D0F-DF52-485B-943B-7C721FAB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수면 보드와 7일 그래프는 예시 데이터입니다.</a:t>
            </a:r>
          </a:p>
        </p:txBody>
      </p:sp>
      <p:sp>
        <p:nvSpPr>
          <p:cNvPr id="6" name="행동 실천">
            <a:extLst xmlns:a="http://schemas.openxmlformats.org/drawingml/2006/main">
              <a:ext uri="{FF2B5EF4-FFF2-40B4-BE49-F238E27FC236}">
                <a16:creationId xmlns:a16="http://schemas.microsoft.com/office/drawing/2014/main" id="{7A1FF2E1-6C1B-474C-B4B2-01AC991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621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행동 실천</a:t>
            </a:r>
          </a:p>
        </p:txBody>
      </p:sp>
      <p:sp>
        <p:nvSpPr>
          <p:cNvPr id="7" name="나에게 맞는 작은 목표 관리">
            <a:extLst xmlns:a="http://schemas.openxmlformats.org/drawingml/2006/main">
              <a:ext uri="{FF2B5EF4-FFF2-40B4-BE49-F238E27FC236}">
                <a16:creationId xmlns:a16="http://schemas.microsoft.com/office/drawing/2014/main" id="{A003D9DA-F5C7-42D6-BFDC-07FAEB6D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나에게 맞는 작은 목표 관리</a:t>
            </a:r>
          </a:p>
        </p:txBody>
      </p:sp>
      <p:sp>
        <p:nvSpPr>
          <p:cNvPr id="8" name="행동을 추가하고 완료 여부를 표시합니다.&#10;다시 누르면 ">
            <a:extLst xmlns:a="http://schemas.openxmlformats.org/drawingml/2006/main">
              <a:ext uri="{FF2B5EF4-FFF2-40B4-BE49-F238E27FC236}">
                <a16:creationId xmlns:a16="http://schemas.microsoft.com/office/drawing/2014/main" id="{9EFC5A01-0128-4A0C-BAD9-4FA4E5DD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81425"/>
            <a:ext cx="4667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행동을 추가하고 완료 여부를 표시합니다.</a:t>
            </a:r>
          </a:p>
          <a:p xmlns:a="http://schemas.openxmlformats.org/drawingml/2006/main">
            <a:pPr>
              <a:def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다시 누르면 해제하고, 항목별로 삭제합니다.</a:t>
            </a:r>
          </a:p>
        </p:txBody>
      </p:sp>
      <p:sp>
        <p:nvSpPr>
          <p:cNvPr id="9" name="아무 항목도 없으면 안내 문구를 보여줍니다.">
            <a:extLst xmlns:a="http://schemas.openxmlformats.org/drawingml/2006/main">
              <a:ext uri="{FF2B5EF4-FFF2-40B4-BE49-F238E27FC236}">
                <a16:creationId xmlns:a16="http://schemas.microsoft.com/office/drawing/2014/main" id="{3E0FDF70-5AF7-4CD4-8C28-A29EFF91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244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아무 항목도 없으면 안내 문구를 보여줍니다.</a:t>
            </a:r>
          </a:p>
        </p:txBody>
      </p:sp>
      <p:sp>
        <p:nvSpPr>
          <p:cNvPr id="10" name="잠드림">
            <a:extLst xmlns:a="http://schemas.openxmlformats.org/drawingml/2006/main">
              <a:ext uri="{FF2B5EF4-FFF2-40B4-BE49-F238E27FC236}">
                <a16:creationId xmlns:a16="http://schemas.microsoft.com/office/drawing/2014/main" id="{27F5C40A-9D6D-4DEB-9E0F-8D2FDFE6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11" name="4 / 5">
            <a:extLst xmlns:a="http://schemas.openxmlformats.org/drawingml/2006/main">
              <a:ext uri="{FF2B5EF4-FFF2-40B4-BE49-F238E27FC236}">
                <a16:creationId xmlns:a16="http://schemas.microsoft.com/office/drawing/2014/main" id="{31B8FB1E-6C79-4DA3-8EB1-3C2AD01F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2072455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현재 버전과 다음 단계">
            <a:extLst xmlns:a="http://schemas.openxmlformats.org/drawingml/2006/main">
              <a:ext uri="{FF2B5EF4-FFF2-40B4-BE49-F238E27FC236}">
                <a16:creationId xmlns:a16="http://schemas.microsoft.com/office/drawing/2014/main" id="{0223E74A-2C06-4FB0-BFD2-E9A7F828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현재 버전과 다음 단계</a:t>
            </a:r>
          </a:p>
        </p:txBody>
      </p:sp>
      <p:sp>
        <p:nvSpPr>
          <p:cNvPr id="2" name="현재 체험 버전">
            <a:extLst xmlns:a="http://schemas.openxmlformats.org/drawingml/2006/main">
              <a:ext uri="{FF2B5EF4-FFF2-40B4-BE49-F238E27FC236}">
                <a16:creationId xmlns:a16="http://schemas.microsoft.com/office/drawing/2014/main" id="{8063BCCC-E45E-405B-9405-5C15457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현재 체험 버전</a:t>
            </a:r>
          </a:p>
        </p:txBody>
      </p:sp>
      <p:sp>
        <p:nvSpPr>
          <p:cNvPr id="3" name="휴대폰 폭의 세로형 웹 화면&#10;수면 시작부터 결과 확인까">
            <a:extLst xmlns:a="http://schemas.openxmlformats.org/drawingml/2006/main">
              <a:ext uri="{FF2B5EF4-FFF2-40B4-BE49-F238E27FC236}">
                <a16:creationId xmlns:a16="http://schemas.microsoft.com/office/drawing/2014/main" id="{562F0BB9-26D6-4C1C-8463-3D241C3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휴대폰 폭의 세로형 웹 화면</a:t>
            </a:r>
          </a:p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수면 시작부터 결과 확인까지의 흐름</a:t>
            </a:r>
          </a:p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실천 목록의 추가와 완료 관리</a:t>
            </a:r>
          </a:p>
        </p:txBody>
      </p:sp>
      <p:sp>
        <p:nvSpPr>
          <p:cNvPr id="4" name="새로고침하면 기록과 목록이 초기화됩니다.">
            <a:extLst xmlns:a="http://schemas.openxmlformats.org/drawingml/2006/main">
              <a:ext uri="{FF2B5EF4-FFF2-40B4-BE49-F238E27FC236}">
                <a16:creationId xmlns:a16="http://schemas.microsoft.com/office/drawing/2014/main" id="{25362D46-2B68-4971-AAFB-62443AE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새로고침하면 기록과 목록이 초기화됩니다.</a:t>
            </a:r>
          </a:p>
        </p:txBody>
      </p:sp>
      <p:sp>
        <p:nvSpPr>
          <p:cNvPr id="5" name="다음 개발 단계">
            <a:extLst xmlns:a="http://schemas.openxmlformats.org/drawingml/2006/main">
              <a:ext uri="{FF2B5EF4-FFF2-40B4-BE49-F238E27FC236}">
                <a16:creationId xmlns:a16="http://schemas.microsoft.com/office/drawing/2014/main" id="{FDAF371D-716F-423E-BC75-9DC1A25C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81225"/>
            <a:ext cx="4667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3C6B53"/>
                </a:solidFill>
                <a:latin typeface="Apple SD Gothic Neo"/>
                <a:ea typeface="Apple SD Gothic Neo"/>
                <a:cs typeface="Apple SD Gothic Neo"/>
              </a:rPr>
              <a:t>다음 개발 단계</a:t>
            </a:r>
          </a:p>
        </p:txBody>
      </p:sp>
      <p:sp>
        <p:nvSpPr>
          <p:cNvPr id="6" name="다음 날에도 이어지는 기록 저장&#10;Android 앱으로 ">
            <a:extLst xmlns:a="http://schemas.openxmlformats.org/drawingml/2006/main">
              <a:ext uri="{FF2B5EF4-FFF2-40B4-BE49-F238E27FC236}">
                <a16:creationId xmlns:a16="http://schemas.microsoft.com/office/drawing/2014/main" id="{FEDF6ABF-F70D-410E-A206-697C221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9925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다음 날에도 이어지는 기록 저장</a:t>
            </a:r>
          </a:p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Android 앱으로 사용 환경 확장</a:t>
            </a:r>
          </a:p>
          <a:p xmlns:a="http://schemas.openxmlformats.org/drawingml/2006/main">
            <a:pPr>
              <a:def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63F36"/>
                </a:solidFill>
                <a:latin typeface="Apple SD Gothic Neo"/>
                <a:ea typeface="Apple SD Gothic Neo"/>
                <a:cs typeface="Apple SD Gothic Neo"/>
              </a:rPr>
              <a:t>호흡 소리 분석 모델과 정확도 검증</a:t>
            </a:r>
          </a:p>
        </p:txBody>
      </p:sp>
      <p:sp>
        <p:nvSpPr>
          <p:cNvPr id="7" name="실제 분석은 별도 개발과 검증이 필요합니다.">
            <a:extLst xmlns:a="http://schemas.openxmlformats.org/drawingml/2006/main">
              <a:ext uri="{FF2B5EF4-FFF2-40B4-BE49-F238E27FC236}">
                <a16:creationId xmlns:a16="http://schemas.microsoft.com/office/drawing/2014/main" id="{151B6597-A91E-42F6-853B-63DDF2E3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49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실제 분석은 별도 개발과 검증이 필요합니다.</a:t>
            </a:r>
          </a:p>
        </p:txBody>
      </p:sp>
      <p:sp>
        <p:nvSpPr>
          <p:cNvPr id="8" name="잠드림">
            <a:extLst xmlns:a="http://schemas.openxmlformats.org/drawingml/2006/main">
              <a:ext uri="{FF2B5EF4-FFF2-40B4-BE49-F238E27FC236}">
                <a16:creationId xmlns:a16="http://schemas.microsoft.com/office/drawing/2014/main" id="{EB56AD5E-FF26-4A18-853D-E506ABE3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잠드림</a:t>
            </a:r>
          </a:p>
        </p:txBody>
      </p:sp>
      <p:sp>
        <p:nvSpPr>
          <p:cNvPr id="9" name="5 / 5">
            <a:extLst xmlns:a="http://schemas.openxmlformats.org/drawingml/2006/main">
              <a:ext uri="{FF2B5EF4-FFF2-40B4-BE49-F238E27FC236}">
                <a16:creationId xmlns:a16="http://schemas.microsoft.com/office/drawing/2014/main" id="{FB0BC456-AFD6-42E9-B947-BD62792C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73836D"/>
                </a:solidFill>
                <a:latin typeface="Apple SD Gothic Neo"/>
                <a:ea typeface="Apple SD Gothic Neo"/>
                <a:cs typeface="Apple SD Gothic Neo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531697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2026-09-30T07:41:48.8250000Z</dcterms:created>
  <dcterms:modified xsi:type="dcterms:W3CDTF">2026-09-30T07:41:48.8250000Z</dcterms:modified>
</coreProperties>
</file>